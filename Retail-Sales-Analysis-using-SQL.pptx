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5" r:id="rId16"/>
    <p:sldId id="274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  <p:embeddedFont>
      <p:font typeface="Open Sans" panose="020B0606030504020204" pitchFamily="34" charset="0"/>
      <p:regular r:id="rId26"/>
    </p:embeddedFont>
    <p:embeddedFont>
      <p:font typeface="Open Sans Bold" panose="020B0806030504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45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8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05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86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90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64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9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Retail Sales Analysis using SQL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085106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3721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NANDINI WADILE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6122"/>
            <a:ext cx="4107135" cy="1886843"/>
          </a:xfrm>
          <a:prstGeom prst="roundRect">
            <a:avLst>
              <a:gd name="adj" fmla="val 1127"/>
            </a:avLst>
          </a:prstGeom>
          <a:solidFill>
            <a:srgbClr val="403CC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9788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61096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retail sales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data cleaning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business SQL queries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actionable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Strengthen SQL proficiency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 Used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2478807"/>
            <a:ext cx="354360" cy="35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81240" y="2478807"/>
            <a:ext cx="133134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MySQL Workbench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9762" y="2478807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21302" y="2478807"/>
            <a:ext cx="1331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3205237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1240" y="3205237"/>
            <a:ext cx="1331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CSV Dataset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9762" y="3205237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21302" y="3205237"/>
            <a:ext cx="1331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GitHub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20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Information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71580" y="944389"/>
            <a:ext cx="268099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Table: </a:t>
            </a:r>
            <a:r>
              <a:rPr lang="en-US" sz="10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retail_sales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71580" y="1212131"/>
            <a:ext cx="2680990" cy="3212306"/>
          </a:xfrm>
          <a:prstGeom prst="roundRect">
            <a:avLst>
              <a:gd name="adj" fmla="val 6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71580" y="1481807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971580" y="1749103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971580" y="2016398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971580" y="2283693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971580" y="2550988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971580" y="2818284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971580" y="3085579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71580" y="3352874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71580" y="3620170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71580" y="3887465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71580" y="4154760"/>
            <a:ext cx="2680990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312075" y="1212131"/>
            <a:ext cx="6784" cy="32123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084838" y="1271513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Column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22952" y="1271513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Type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84838" y="1538808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ID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422952" y="1538808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VARCHAR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084838" y="1806104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 Date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422952" y="1806104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4838" y="2073399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 Time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22952" y="2073399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084838" y="2340694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ID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422952" y="2340694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VARCHAR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084838" y="2607990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422952" y="2607990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VARCHAR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84838" y="2875285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422952" y="2875285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084838" y="3142580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422952" y="3142580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VARCHAR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084838" y="3409876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422952" y="3409876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084838" y="3677171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 Per Unit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422952" y="3677171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DECIMAL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084838" y="3944466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422952" y="3944466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DECIMAL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084838" y="4211762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Sale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422952" y="4211762"/>
            <a:ext cx="157356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DECIMAL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971580" y="4517901"/>
            <a:ext cx="313819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columns · 1,000+ transactions · CSV source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358C51D-AE2B-D362-71AA-34B86682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53" y="1282287"/>
            <a:ext cx="5343185" cy="2759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39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Setup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13222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Initialise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05967"/>
            <a:ext cx="2666926" cy="3324820"/>
          </a:xfrm>
          <a:prstGeom prst="roundRect">
            <a:avLst>
              <a:gd name="adj" fmla="val 660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314" y="1305967"/>
            <a:ext cx="2678534" cy="3324820"/>
          </a:xfrm>
          <a:prstGeom prst="roundRect">
            <a:avLst>
              <a:gd name="adj" fmla="val 657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637059" y="1423318"/>
            <a:ext cx="2385045" cy="309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and select database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retail;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 retail;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sales table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retail_sales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transaction_id  VARCHAR(20),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sale_date       DATE,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sale_time       TIME,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    VARCHAR(20),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gender          VARCHAR(10),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age             INT,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       VARCHAR(50),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       INT,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price_per_unit  DECIMAL(10,2),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cogs            DECIMAL(10,2),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total_sale      DECIMAL(10,2)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16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96119" y="704999"/>
            <a:ext cx="8151763" cy="943124"/>
          </a:xfrm>
          <a:prstGeom prst="roundRect">
            <a:avLst>
              <a:gd name="adj" fmla="val 1163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492473" y="704998"/>
            <a:ext cx="7899966" cy="2160241"/>
          </a:xfrm>
          <a:prstGeom prst="roundRect">
            <a:avLst>
              <a:gd name="adj" fmla="val 1163"/>
            </a:avLst>
          </a:prstGeom>
          <a:solidFill>
            <a:srgbClr val="EEEDF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83778" y="778073"/>
            <a:ext cx="7144171" cy="79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-- Null Check</a:t>
            </a:r>
            <a:endParaRPr lang="en-IN" sz="900" dirty="0">
              <a:latin typeface="Consolas" panose="020B0609020204030204" pitchFamily="49" charset="0"/>
            </a:endParaRP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* 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WHERE</a:t>
            </a:r>
          </a:p>
          <a:p>
            <a:pPr>
              <a:lnSpc>
                <a:spcPct val="101000"/>
              </a:lnSpc>
            </a:pPr>
            <a:r>
              <a:rPr lang="en-US" sz="900" dirty="0" err="1">
                <a:latin typeface="Consolas" panose="020B0609020204030204" pitchFamily="49" charset="0"/>
              </a:rPr>
              <a:t>sale_date</a:t>
            </a:r>
            <a:r>
              <a:rPr lang="en-US" sz="900" dirty="0">
                <a:latin typeface="Consolas" panose="020B0609020204030204" pitchFamily="49" charset="0"/>
              </a:rPr>
              <a:t> IS NULL OR  </a:t>
            </a:r>
            <a:r>
              <a:rPr lang="en-US" sz="900" dirty="0" err="1">
                <a:latin typeface="Consolas" panose="020B0609020204030204" pitchFamily="49" charset="0"/>
              </a:rPr>
              <a:t>sale_time</a:t>
            </a:r>
            <a:r>
              <a:rPr lang="en-US" sz="900" dirty="0">
                <a:latin typeface="Consolas" panose="020B0609020204030204" pitchFamily="49" charset="0"/>
              </a:rPr>
              <a:t> IS NULL OR </a:t>
            </a:r>
            <a:r>
              <a:rPr lang="en-US" sz="900" dirty="0" err="1">
                <a:latin typeface="Consolas" panose="020B0609020204030204" pitchFamily="49" charset="0"/>
              </a:rPr>
              <a:t>customer_id</a:t>
            </a:r>
            <a:r>
              <a:rPr lang="en-US" sz="900" dirty="0">
                <a:latin typeface="Consolas" panose="020B0609020204030204" pitchFamily="49" charset="0"/>
              </a:rPr>
              <a:t> IS NULL OR gender IS NULL OR age IS NULL OR </a:t>
            </a: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category IS NULL OR </a:t>
            </a:r>
            <a:r>
              <a:rPr lang="en-US" sz="900" dirty="0" err="1">
                <a:latin typeface="Consolas" panose="020B0609020204030204" pitchFamily="49" charset="0"/>
              </a:rPr>
              <a:t>quantiy</a:t>
            </a:r>
            <a:r>
              <a:rPr lang="en-US" sz="900" dirty="0">
                <a:latin typeface="Consolas" panose="020B0609020204030204" pitchFamily="49" charset="0"/>
              </a:rPr>
              <a:t> IS NULL OR </a:t>
            </a:r>
            <a:r>
              <a:rPr lang="en-US" sz="900" dirty="0" err="1">
                <a:latin typeface="Consolas" panose="020B0609020204030204" pitchFamily="49" charset="0"/>
              </a:rPr>
              <a:t>price_per_unit</a:t>
            </a:r>
            <a:r>
              <a:rPr lang="en-US" sz="900" dirty="0">
                <a:latin typeface="Consolas" panose="020B0609020204030204" pitchFamily="49" charset="0"/>
              </a:rPr>
              <a:t> IS NULL OR cogs is null;</a:t>
            </a:r>
          </a:p>
          <a:p>
            <a:pPr>
              <a:lnSpc>
                <a:spcPct val="101000"/>
              </a:lnSpc>
            </a:pP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* 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r>
              <a:rPr lang="en-US" sz="9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1000"/>
              </a:lnSpc>
            </a:pP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-- Deleting Nulls</a:t>
            </a: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SET SQL_SAFE_UPDATES = 1;</a:t>
            </a: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DELETE 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WHERE</a:t>
            </a:r>
          </a:p>
          <a:p>
            <a:pPr>
              <a:lnSpc>
                <a:spcPct val="101000"/>
              </a:lnSpc>
            </a:pPr>
            <a:r>
              <a:rPr lang="en-US" sz="900" dirty="0" err="1">
                <a:latin typeface="Consolas" panose="020B0609020204030204" pitchFamily="49" charset="0"/>
              </a:rPr>
              <a:t>sale_date</a:t>
            </a:r>
            <a:r>
              <a:rPr lang="en-US" sz="900" dirty="0">
                <a:latin typeface="Consolas" panose="020B0609020204030204" pitchFamily="49" charset="0"/>
              </a:rPr>
              <a:t> IS NULL OR </a:t>
            </a:r>
            <a:r>
              <a:rPr lang="en-US" sz="900" dirty="0" err="1">
                <a:latin typeface="Consolas" panose="020B0609020204030204" pitchFamily="49" charset="0"/>
              </a:rPr>
              <a:t>sale_time</a:t>
            </a:r>
            <a:r>
              <a:rPr lang="en-US" sz="900" dirty="0">
                <a:latin typeface="Consolas" panose="020B0609020204030204" pitchFamily="49" charset="0"/>
              </a:rPr>
              <a:t>  IS NULL OR </a:t>
            </a:r>
            <a:r>
              <a:rPr lang="en-US" sz="900" dirty="0" err="1">
                <a:latin typeface="Consolas" panose="020B0609020204030204" pitchFamily="49" charset="0"/>
              </a:rPr>
              <a:t>customer_id</a:t>
            </a:r>
            <a:r>
              <a:rPr lang="en-US" sz="900" dirty="0">
                <a:latin typeface="Consolas" panose="020B0609020204030204" pitchFamily="49" charset="0"/>
              </a:rPr>
              <a:t> IS NULL OR gender IS NULL OR age IS NULL OR </a:t>
            </a:r>
          </a:p>
          <a:p>
            <a:pPr>
              <a:lnSpc>
                <a:spcPct val="101000"/>
              </a:lnSpc>
            </a:pPr>
            <a:r>
              <a:rPr lang="en-US" sz="900" dirty="0">
                <a:latin typeface="Consolas" panose="020B0609020204030204" pitchFamily="49" charset="0"/>
              </a:rPr>
              <a:t>category IS NULL OR </a:t>
            </a:r>
            <a:r>
              <a:rPr lang="en-US" sz="900" dirty="0" err="1">
                <a:latin typeface="Consolas" panose="020B0609020204030204" pitchFamily="49" charset="0"/>
              </a:rPr>
              <a:t>quantiy</a:t>
            </a:r>
            <a:r>
              <a:rPr lang="en-US" sz="900" dirty="0">
                <a:latin typeface="Consolas" panose="020B0609020204030204" pitchFamily="49" charset="0"/>
              </a:rPr>
              <a:t> IS NULL OR </a:t>
            </a:r>
            <a:r>
              <a:rPr lang="en-US" sz="900" dirty="0" err="1">
                <a:latin typeface="Consolas" panose="020B0609020204030204" pitchFamily="49" charset="0"/>
              </a:rPr>
              <a:t>price_per_unit</a:t>
            </a:r>
            <a:r>
              <a:rPr lang="en-US" sz="900" dirty="0">
                <a:latin typeface="Consolas" panose="020B0609020204030204" pitchFamily="49" charset="0"/>
              </a:rPr>
              <a:t> IS NULL OR cogs is null;</a:t>
            </a:r>
          </a:p>
        </p:txBody>
      </p:sp>
      <p:sp>
        <p:nvSpPr>
          <p:cNvPr id="7" name="Shape 4"/>
          <p:cNvSpPr/>
          <p:nvPr/>
        </p:nvSpPr>
        <p:spPr>
          <a:xfrm>
            <a:off x="5915397" y="2478658"/>
            <a:ext cx="2737172" cy="386581"/>
          </a:xfrm>
          <a:prstGeom prst="roundRect">
            <a:avLst>
              <a:gd name="adj" fmla="val 2836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5988472" y="2551733"/>
            <a:ext cx="259102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1,000 rows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988472" y="2703612"/>
            <a:ext cx="259102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5915397" y="2902893"/>
            <a:ext cx="2737172" cy="386581"/>
          </a:xfrm>
          <a:prstGeom prst="roundRect">
            <a:avLst>
              <a:gd name="adj" fmla="val 2836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5988472" y="2975967"/>
            <a:ext cx="259102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500 unique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88472" y="3127846"/>
            <a:ext cx="259102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915397" y="3327127"/>
            <a:ext cx="2737172" cy="386581"/>
          </a:xfrm>
          <a:prstGeom prst="roundRect">
            <a:avLst>
              <a:gd name="adj" fmla="val 2836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5988472" y="3400202"/>
            <a:ext cx="259102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 categories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988472" y="3552081"/>
            <a:ext cx="259102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Confirmed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915397" y="3756050"/>
            <a:ext cx="2737172" cy="198090"/>
          </a:xfrm>
          <a:prstGeom prst="roundRect">
            <a:avLst>
              <a:gd name="adj" fmla="val 5535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472" y="3854797"/>
            <a:ext cx="91306" cy="730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52852" y="3808140"/>
            <a:ext cx="288384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cleaned — zero nulls remain.</a:t>
            </a:r>
            <a:endParaRPr lang="en-US" sz="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F03F37-B2D3-39FE-51F3-E1A6608B8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828557"/>
            <a:ext cx="4807079" cy="2052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222"/>
            <a:ext cx="414263" cy="154409"/>
          </a:xfrm>
          <a:prstGeom prst="roundRect">
            <a:avLst>
              <a:gd name="adj" fmla="val 723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425128"/>
            <a:ext cx="759842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76039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on a Specific Date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958304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 all transactions from </a:t>
            </a: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2022-11-05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96119" y="1218902"/>
            <a:ext cx="5219179" cy="432495"/>
          </a:xfrm>
          <a:prstGeom prst="roundRect">
            <a:avLst>
              <a:gd name="adj" fmla="val 3227"/>
            </a:avLst>
          </a:prstGeom>
          <a:solidFill>
            <a:srgbClr val="EEEDF2"/>
          </a:solidFill>
          <a:ln/>
        </p:spPr>
      </p:sp>
      <p:sp>
        <p:nvSpPr>
          <p:cNvPr id="7" name="Shape 5"/>
          <p:cNvSpPr/>
          <p:nvPr/>
        </p:nvSpPr>
        <p:spPr>
          <a:xfrm>
            <a:off x="491505" y="1218902"/>
            <a:ext cx="5228406" cy="432495"/>
          </a:xfrm>
          <a:prstGeom prst="roundRect">
            <a:avLst>
              <a:gd name="adj" fmla="val 3227"/>
            </a:avLst>
          </a:prstGeom>
          <a:solidFill>
            <a:srgbClr val="EEEDF2"/>
          </a:solidFill>
          <a:ln/>
        </p:spPr>
      </p:sp>
      <p:sp>
        <p:nvSpPr>
          <p:cNvPr id="8" name="Text 6"/>
          <p:cNvSpPr/>
          <p:nvPr/>
        </p:nvSpPr>
        <p:spPr>
          <a:xfrm>
            <a:off x="607740" y="1311920"/>
            <a:ext cx="499593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highlight>
                  <a:srgbClr val="EEEDF2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SELECT * FROM 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highlight>
                  <a:srgbClr val="EEEDF2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WHERE sale_date = '2022-11-05';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7023" y="2724894"/>
            <a:ext cx="27055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7023" y="2931244"/>
            <a:ext cx="270554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Isolates a single trading day to examine purchase patterns, peak hours, and customer behaviour.</a:t>
            </a:r>
            <a:endParaRPr lang="en-US" sz="700" dirty="0"/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8C976111-D737-9CCA-5134-D52AE963E82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511" y="2348631"/>
            <a:ext cx="5486400" cy="1165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854"/>
            <a:ext cx="345356" cy="123081"/>
          </a:xfrm>
          <a:prstGeom prst="roundRect">
            <a:avLst>
              <a:gd name="adj" fmla="val 755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42627" y="429071"/>
            <a:ext cx="709538" cy="76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2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45827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High-Volume Clothing Sales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6119" y="851669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orders with </a:t>
            </a:r>
            <a:r>
              <a:rPr lang="en-US" sz="6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quantity ≥ 4</a:t>
            </a: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November 2022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1042839"/>
            <a:ext cx="5232425" cy="634529"/>
          </a:xfrm>
          <a:prstGeom prst="roundRect">
            <a:avLst>
              <a:gd name="adj" fmla="val 1833"/>
            </a:avLst>
          </a:prstGeom>
          <a:solidFill>
            <a:srgbClr val="EEEDF2"/>
          </a:solidFill>
          <a:ln/>
        </p:spPr>
      </p:sp>
      <p:sp>
        <p:nvSpPr>
          <p:cNvPr id="7" name="Shape 5"/>
          <p:cNvSpPr/>
          <p:nvPr/>
        </p:nvSpPr>
        <p:spPr>
          <a:xfrm>
            <a:off x="492249" y="1042839"/>
            <a:ext cx="5240164" cy="634529"/>
          </a:xfrm>
          <a:prstGeom prst="roundRect">
            <a:avLst>
              <a:gd name="adj" fmla="val 1833"/>
            </a:avLst>
          </a:prstGeom>
          <a:solidFill>
            <a:srgbClr val="EEEDF2"/>
          </a:solidFill>
          <a:ln/>
        </p:spPr>
      </p:sp>
      <p:sp>
        <p:nvSpPr>
          <p:cNvPr id="8" name="Text 6"/>
          <p:cNvSpPr/>
          <p:nvPr/>
        </p:nvSpPr>
        <p:spPr>
          <a:xfrm>
            <a:off x="589136" y="1120304"/>
            <a:ext cx="3018360" cy="479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SELECT * FROM </a:t>
            </a:r>
            <a:r>
              <a:rPr lang="en-US" sz="1300" dirty="0" err="1">
                <a:latin typeface="Consolas" panose="020B0609020204030204" pitchFamily="49" charset="0"/>
              </a:rPr>
              <a:t>retail_sales</a:t>
            </a:r>
            <a:endParaRPr lang="en-IN" sz="1300" dirty="0">
              <a:latin typeface="Consolas" panose="020B06090202040302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</a:rPr>
              <a:t>WHERE category ='clothing' AND DATE_FORMAT(</a:t>
            </a:r>
            <a:r>
              <a:rPr lang="en-US" sz="1300" dirty="0" err="1">
                <a:latin typeface="Consolas" panose="020B0609020204030204" pitchFamily="49" charset="0"/>
              </a:rPr>
              <a:t>sale_date</a:t>
            </a:r>
            <a:r>
              <a:rPr lang="en-US" sz="1300" dirty="0">
                <a:latin typeface="Consolas" panose="020B0609020204030204" pitchFamily="49" charset="0"/>
              </a:rPr>
              <a:t>, '%Y-%m')='2022-11’ 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AND quantity &gt;= 4;</a:t>
            </a:r>
            <a:endParaRPr lang="en-IN" sz="1300" dirty="0">
              <a:latin typeface="Consolas" panose="020B0609020204030204" pitchFamily="49" charset="0"/>
            </a:endParaRPr>
          </a:p>
          <a:p>
            <a:pPr marL="0" indent="0" algn="l">
              <a:lnSpc>
                <a:spcPct val="103000"/>
              </a:lnSpc>
              <a:buNone/>
            </a:pP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922466" y="2690887"/>
            <a:ext cx="273010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22466" y="2854300"/>
            <a:ext cx="273010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bulk buyers — ideal for loyalty programmes and targeted promotions.</a:t>
            </a:r>
            <a:endParaRPr lang="en-US" sz="600" dirty="0"/>
          </a:p>
        </p:txBody>
      </p:sp>
      <p:pic>
        <p:nvPicPr>
          <p:cNvPr id="12" name="Image 4">
            <a:extLst>
              <a:ext uri="{FF2B5EF4-FFF2-40B4-BE49-F238E27FC236}">
                <a16:creationId xmlns:a16="http://schemas.microsoft.com/office/drawing/2014/main" id="{EF71D3F9-DD79-9EB5-3D8C-4D2781A66EF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2144" y="2303471"/>
            <a:ext cx="5486400" cy="1293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292"/>
            <a:ext cx="354881" cy="127471"/>
          </a:xfrm>
          <a:prstGeom prst="roundRect">
            <a:avLst>
              <a:gd name="adj" fmla="val 7507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43892" y="428179"/>
            <a:ext cx="716533" cy="7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9697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Performance by Category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96119" y="916558"/>
            <a:ext cx="5230564" cy="757684"/>
          </a:xfrm>
          <a:prstGeom prst="roundRect">
            <a:avLst>
              <a:gd name="adj" fmla="val 1579"/>
            </a:avLst>
          </a:prstGeom>
          <a:solidFill>
            <a:srgbClr val="EEEDF2"/>
          </a:solidFill>
          <a:ln/>
        </p:spPr>
      </p:sp>
      <p:sp>
        <p:nvSpPr>
          <p:cNvPr id="6" name="Shape 4"/>
          <p:cNvSpPr/>
          <p:nvPr/>
        </p:nvSpPr>
        <p:spPr>
          <a:xfrm>
            <a:off x="492175" y="916558"/>
            <a:ext cx="5238452" cy="757684"/>
          </a:xfrm>
          <a:prstGeom prst="roundRect">
            <a:avLst>
              <a:gd name="adj" fmla="val 1579"/>
            </a:avLst>
          </a:prstGeom>
          <a:solidFill>
            <a:srgbClr val="EEEDF2"/>
          </a:solidFill>
          <a:ln/>
        </p:spPr>
      </p:sp>
      <p:sp>
        <p:nvSpPr>
          <p:cNvPr id="7" name="Text 5"/>
          <p:cNvSpPr/>
          <p:nvPr/>
        </p:nvSpPr>
        <p:spPr>
          <a:xfrm>
            <a:off x="591815" y="996255"/>
            <a:ext cx="5039171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category, </a:t>
            </a:r>
          </a:p>
          <a:p>
            <a:pPr>
              <a:lnSpc>
                <a:spcPct val="104000"/>
              </a:lnSpc>
            </a:pPr>
            <a:r>
              <a:rPr lang="en-US" sz="900" dirty="0">
                <a:latin typeface="Consolas" panose="020B0609020204030204" pitchFamily="49" charset="0"/>
              </a:rPr>
              <a:t>SUM(</a:t>
            </a:r>
            <a:r>
              <a:rPr lang="en-US" sz="900" dirty="0" err="1">
                <a:latin typeface="Consolas" panose="020B0609020204030204" pitchFamily="49" charset="0"/>
              </a:rPr>
              <a:t>total_sale</a:t>
            </a:r>
            <a:r>
              <a:rPr lang="en-US" sz="900" dirty="0">
                <a:latin typeface="Consolas" panose="020B0609020204030204" pitchFamily="49" charset="0"/>
              </a:rPr>
              <a:t>) as </a:t>
            </a:r>
            <a:r>
              <a:rPr lang="en-US" sz="900" dirty="0" err="1">
                <a:latin typeface="Consolas" panose="020B0609020204030204" pitchFamily="49" charset="0"/>
              </a:rPr>
              <a:t>net_sale</a:t>
            </a:r>
            <a:r>
              <a:rPr lang="en-US" sz="900" dirty="0">
                <a:latin typeface="Consolas" panose="020B0609020204030204" pitchFamily="49" charset="0"/>
              </a:rPr>
              <a:t>, COUNT(*) AS </a:t>
            </a:r>
            <a:r>
              <a:rPr lang="en-US" sz="900" dirty="0" err="1">
                <a:latin typeface="Consolas" panose="020B0609020204030204" pitchFamily="49" charset="0"/>
              </a:rPr>
              <a:t>total_orders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4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retail_salesGROUP</a:t>
            </a:r>
            <a:r>
              <a:rPr lang="en-US" sz="900" dirty="0">
                <a:latin typeface="Consolas" panose="020B0609020204030204" pitchFamily="49" charset="0"/>
              </a:rPr>
              <a:t> BY category;</a:t>
            </a:r>
          </a:p>
        </p:txBody>
      </p:sp>
      <p:sp>
        <p:nvSpPr>
          <p:cNvPr id="9" name="Text 6"/>
          <p:cNvSpPr/>
          <p:nvPr/>
        </p:nvSpPr>
        <p:spPr>
          <a:xfrm>
            <a:off x="5925964" y="1404045"/>
            <a:ext cx="2726680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Revenue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964" y="1579141"/>
            <a:ext cx="2726680" cy="234582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25964" y="3975422"/>
            <a:ext cx="2726680" cy="220117"/>
          </a:xfrm>
          <a:prstGeom prst="roundRect">
            <a:avLst>
              <a:gd name="adj" fmla="val 5434"/>
            </a:avLst>
          </a:prstGeom>
          <a:solidFill>
            <a:srgbClr val="D7D6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661" y="4081388"/>
            <a:ext cx="99640" cy="796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4999" y="4035623"/>
            <a:ext cx="284514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Clothing</a:t>
            </a:r>
            <a:r>
              <a:rPr lang="en-US" sz="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revenue — strongest category.</a:t>
            </a:r>
            <a:endParaRPr lang="en-US" sz="600" dirty="0"/>
          </a:p>
        </p:txBody>
      </p:sp>
      <p:pic>
        <p:nvPicPr>
          <p:cNvPr id="18" name="Image 5">
            <a:extLst>
              <a:ext uri="{FF2B5EF4-FFF2-40B4-BE49-F238E27FC236}">
                <a16:creationId xmlns:a16="http://schemas.microsoft.com/office/drawing/2014/main" id="{873158E9-F2EE-7B9F-5552-2D1E8E047DC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9565" y="2059037"/>
            <a:ext cx="5291062" cy="1680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0818"/>
            <a:ext cx="562273" cy="228451"/>
          </a:xfrm>
          <a:prstGeom prst="roundRect">
            <a:avLst>
              <a:gd name="adj" fmla="val 6632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1872" y="508695"/>
            <a:ext cx="86796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4421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Age: Beauty Customers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999708" y="1419820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99708" y="1743596"/>
            <a:ext cx="2652861" cy="825252"/>
          </a:xfrm>
          <a:prstGeom prst="roundRect">
            <a:avLst>
              <a:gd name="adj" fmla="val 2295"/>
            </a:avLst>
          </a:prstGeom>
          <a:solidFill>
            <a:srgbClr val="EEEDF2"/>
          </a:solidFill>
          <a:ln/>
        </p:spPr>
      </p:sp>
      <p:sp>
        <p:nvSpPr>
          <p:cNvPr id="8" name="Shape 5"/>
          <p:cNvSpPr/>
          <p:nvPr/>
        </p:nvSpPr>
        <p:spPr>
          <a:xfrm>
            <a:off x="5993457" y="1743596"/>
            <a:ext cx="2665363" cy="825252"/>
          </a:xfrm>
          <a:prstGeom prst="roundRect">
            <a:avLst>
              <a:gd name="adj" fmla="val 2295"/>
            </a:avLst>
          </a:prstGeom>
          <a:solidFill>
            <a:srgbClr val="EEEDF2"/>
          </a:solidFill>
          <a:ln/>
        </p:spPr>
      </p:sp>
      <p:sp>
        <p:nvSpPr>
          <p:cNvPr id="9" name="Text 6"/>
          <p:cNvSpPr/>
          <p:nvPr/>
        </p:nvSpPr>
        <p:spPr>
          <a:xfrm>
            <a:off x="6151215" y="1869802"/>
            <a:ext cx="234984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AVG(age) AS avg_age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retail_sales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'Beauty';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99708" y="2695352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99708" y="3019127"/>
            <a:ext cx="2652861" cy="753070"/>
          </a:xfrm>
          <a:prstGeom prst="roundRect">
            <a:avLst>
              <a:gd name="adj" fmla="val 2515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6125914" y="3145334"/>
            <a:ext cx="240044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~40.42 years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5914" y="3455045"/>
            <a:ext cx="240044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customer age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99708" y="3898702"/>
            <a:ext cx="2652861" cy="647402"/>
          </a:xfrm>
          <a:prstGeom prst="roundRect">
            <a:avLst>
              <a:gd name="adj" fmla="val 2925"/>
            </a:avLst>
          </a:prstGeom>
          <a:solidFill>
            <a:srgbClr val="D7D6F5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914" y="4088904"/>
            <a:ext cx="157758" cy="1262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879" y="4031456"/>
            <a:ext cx="211648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Beauty buyers skew </a:t>
            </a: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mid-to-late 30s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tailor marketing accordingly.</a:t>
            </a:r>
            <a:endParaRPr lang="en-US" sz="950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31DE72B7-EE4E-509B-8CCB-E3003443DD5C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4690" y="2171990"/>
            <a:ext cx="5486400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987475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5 · Transactions where </a:t>
            </a: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Total Sale &gt; $1,000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59681"/>
            <a:ext cx="8151763" cy="505619"/>
          </a:xfrm>
          <a:prstGeom prst="roundRect">
            <a:avLst>
              <a:gd name="adj" fmla="val 1622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389" y="1259681"/>
            <a:ext cx="8163223" cy="505619"/>
          </a:xfrm>
          <a:prstGeom prst="roundRect">
            <a:avLst>
              <a:gd name="adj" fmla="val 1622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634305" y="1374800"/>
            <a:ext cx="7875389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1000"/>
              </a:lnSpc>
            </a:pPr>
            <a:r>
              <a:rPr lang="en-US" sz="1200" dirty="0">
                <a:latin typeface="Consolas" panose="020B0609020204030204" pitchFamily="49" charset="0"/>
              </a:rPr>
              <a:t>SELECT * FROM </a:t>
            </a:r>
            <a:r>
              <a:rPr lang="en-US" sz="1200" dirty="0" err="1">
                <a:latin typeface="Consolas" panose="020B0609020204030204" pitchFamily="49" charset="0"/>
              </a:rPr>
              <a:t>retail_salesWHERE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total_sale</a:t>
            </a:r>
            <a:r>
              <a:rPr lang="en-US" sz="1200" dirty="0">
                <a:latin typeface="Consolas" panose="020B0609020204030204" pitchFamily="49" charset="0"/>
              </a:rPr>
              <a:t> &gt; 1000</a:t>
            </a:r>
            <a:r>
              <a:rPr lang="en-US" sz="900" dirty="0"/>
              <a:t>;</a:t>
            </a:r>
          </a:p>
        </p:txBody>
      </p:sp>
      <p:sp>
        <p:nvSpPr>
          <p:cNvPr id="40" name="Shape 38"/>
          <p:cNvSpPr/>
          <p:nvPr/>
        </p:nvSpPr>
        <p:spPr>
          <a:xfrm>
            <a:off x="496119" y="4300984"/>
            <a:ext cx="8151763" cy="402134"/>
          </a:xfrm>
          <a:prstGeom prst="roundRect">
            <a:avLst>
              <a:gd name="adj" fmla="val 4297"/>
            </a:avLst>
          </a:prstGeom>
          <a:solidFill>
            <a:srgbClr val="D7D6F5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37" y="4458370"/>
            <a:ext cx="143917" cy="11511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0272" y="4423246"/>
            <a:ext cx="811969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High-value transactions are concentrated in </a:t>
            </a: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Electronics</a:t>
            </a: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signaling a premium customer segment worth targeted marketing.</a:t>
            </a:r>
            <a:endParaRPr lang="en-US" sz="9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64C17B5-4D57-9841-6259-AA58373F7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428" y="1826048"/>
            <a:ext cx="4661142" cy="24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2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6 · Transactions by Gender &amp; Category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828303"/>
            <a:ext cx="8151763" cy="852636"/>
          </a:xfrm>
          <a:prstGeom prst="roundRect">
            <a:avLst>
              <a:gd name="adj" fmla="val 1715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491282" y="828303"/>
            <a:ext cx="8161437" cy="852636"/>
          </a:xfrm>
          <a:prstGeom prst="roundRect">
            <a:avLst>
              <a:gd name="adj" fmla="val 1715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613097" y="925711"/>
            <a:ext cx="7917805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category, gender, COUNT(*) AS </a:t>
            </a:r>
            <a:r>
              <a:rPr lang="en-US" sz="900" dirty="0" err="1">
                <a:latin typeface="Consolas" panose="020B0609020204030204" pitchFamily="49" charset="0"/>
              </a:rPr>
              <a:t>total_trans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GROUP BY category, gender</a:t>
            </a: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ORDER BY category;</a:t>
            </a:r>
          </a:p>
        </p:txBody>
      </p:sp>
      <p:sp>
        <p:nvSpPr>
          <p:cNvPr id="7" name="Text 4"/>
          <p:cNvSpPr/>
          <p:nvPr/>
        </p:nvSpPr>
        <p:spPr>
          <a:xfrm>
            <a:off x="4695602" y="1823293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95602" y="2042517"/>
            <a:ext cx="39570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Female</a:t>
            </a: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shoppers dominate Clothing (401 vs 215). </a:t>
            </a:r>
            <a:r>
              <a:rPr lang="en-US" sz="7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Male</a:t>
            </a: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shoppers lead in Electronics (342 vs 298). Gender-targeted campaigns can boost conversion.</a:t>
            </a:r>
            <a:endParaRPr lang="en-US" sz="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198CDC-50C0-B08F-9CB4-0AD3F6D7E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1" y="2453098"/>
            <a:ext cx="6415409" cy="201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6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7 · Average Sales per Month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828303"/>
            <a:ext cx="8151763" cy="852636"/>
          </a:xfrm>
          <a:prstGeom prst="roundRect">
            <a:avLst>
              <a:gd name="adj" fmla="val 1715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491282" y="828303"/>
            <a:ext cx="8161437" cy="1214214"/>
          </a:xfrm>
          <a:prstGeom prst="roundRect">
            <a:avLst>
              <a:gd name="adj" fmla="val 1715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613097" y="925711"/>
            <a:ext cx="2130103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</a:t>
            </a: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EXTRACT(YEAR FROM </a:t>
            </a:r>
            <a:r>
              <a:rPr lang="en-US" sz="900" dirty="0" err="1">
                <a:latin typeface="Consolas" panose="020B0609020204030204" pitchFamily="49" charset="0"/>
              </a:rPr>
              <a:t>sale_date</a:t>
            </a:r>
            <a:r>
              <a:rPr lang="en-US" sz="900" dirty="0">
                <a:latin typeface="Consolas" panose="020B0609020204030204" pitchFamily="49" charset="0"/>
              </a:rPr>
              <a:t>) AS year, EXTRACT(MONTH FROM </a:t>
            </a:r>
            <a:r>
              <a:rPr lang="en-US" sz="900" dirty="0" err="1">
                <a:latin typeface="Consolas" panose="020B0609020204030204" pitchFamily="49" charset="0"/>
              </a:rPr>
              <a:t>sale_date</a:t>
            </a:r>
            <a:r>
              <a:rPr lang="en-US" sz="900" dirty="0">
                <a:latin typeface="Consolas" panose="020B0609020204030204" pitchFamily="49" charset="0"/>
              </a:rPr>
              <a:t>) AS month, AVG(</a:t>
            </a:r>
            <a:r>
              <a:rPr lang="en-US" sz="900" dirty="0" err="1">
                <a:latin typeface="Consolas" panose="020B0609020204030204" pitchFamily="49" charset="0"/>
              </a:rPr>
              <a:t>total_sale</a:t>
            </a:r>
            <a:r>
              <a:rPr lang="en-US" sz="900" dirty="0">
                <a:latin typeface="Consolas" panose="020B0609020204030204" pitchFamily="49" charset="0"/>
              </a:rPr>
              <a:t>) AS </a:t>
            </a:r>
            <a:r>
              <a:rPr lang="en-US" sz="900" dirty="0" err="1">
                <a:latin typeface="Consolas" panose="020B0609020204030204" pitchFamily="49" charset="0"/>
              </a:rPr>
              <a:t>avg_sale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13000"/>
              </a:lnSpc>
            </a:pPr>
            <a:r>
              <a:rPr lang="en-US" sz="900" dirty="0">
                <a:latin typeface="Consolas" panose="020B0609020204030204" pitchFamily="49" charset="0"/>
              </a:rPr>
              <a:t>GROUP BY year, month;</a:t>
            </a:r>
          </a:p>
        </p:txBody>
      </p:sp>
      <p:sp>
        <p:nvSpPr>
          <p:cNvPr id="7" name="Text 4"/>
          <p:cNvSpPr/>
          <p:nvPr/>
        </p:nvSpPr>
        <p:spPr>
          <a:xfrm>
            <a:off x="4695677" y="2276301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 Insight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90839" y="2571750"/>
            <a:ext cx="39570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sale grew </a:t>
            </a:r>
            <a:r>
              <a:rPr lang="en-US" sz="7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~72%</a:t>
            </a: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Jan → Dec. Peak in December reflects holiday demand. Consistent upward trend signals healthy revenue growth.</a:t>
            </a:r>
            <a:endParaRPr lang="en-US" sz="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DA7428-8878-E62D-B2AD-E9C5117E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80" y="2176463"/>
            <a:ext cx="2770563" cy="276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2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046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8 · Top 5 Customers by Total Sales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96119" y="766167"/>
            <a:ext cx="8151763" cy="950863"/>
          </a:xfrm>
          <a:prstGeom prst="roundRect">
            <a:avLst>
              <a:gd name="adj" fmla="val 1363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491803" y="766167"/>
            <a:ext cx="8160395" cy="962398"/>
          </a:xfrm>
          <a:prstGeom prst="roundRect">
            <a:avLst>
              <a:gd name="adj" fmla="val 1363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599777" y="852487"/>
            <a:ext cx="3866853" cy="77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</a:t>
            </a:r>
            <a:r>
              <a:rPr lang="en-US" sz="900" dirty="0" err="1">
                <a:latin typeface="Consolas" panose="020B0609020204030204" pitchFamily="49" charset="0"/>
              </a:rPr>
              <a:t>customer_id</a:t>
            </a:r>
            <a:r>
              <a:rPr lang="en-US" sz="900" dirty="0">
                <a:latin typeface="Consolas" panose="020B0609020204030204" pitchFamily="49" charset="0"/>
              </a:rPr>
              <a:t>, SUM(</a:t>
            </a:r>
            <a:r>
              <a:rPr lang="en-US" sz="900" dirty="0" err="1">
                <a:latin typeface="Consolas" panose="020B0609020204030204" pitchFamily="49" charset="0"/>
              </a:rPr>
              <a:t>total_sale</a:t>
            </a:r>
            <a:r>
              <a:rPr lang="en-US" sz="900" dirty="0">
                <a:latin typeface="Consolas" panose="020B0609020204030204" pitchFamily="49" charset="0"/>
              </a:rPr>
              <a:t>) AS </a:t>
            </a:r>
            <a:r>
              <a:rPr lang="en-US" sz="900" dirty="0" err="1">
                <a:latin typeface="Consolas" panose="020B0609020204030204" pitchFamily="49" charset="0"/>
              </a:rPr>
              <a:t>total_sale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latin typeface="Consolas" panose="020B0609020204030204" pitchFamily="49" charset="0"/>
              </a:rPr>
              <a:t>GROUP BY </a:t>
            </a:r>
            <a:r>
              <a:rPr lang="en-US" sz="900" dirty="0" err="1">
                <a:latin typeface="Consolas" panose="020B0609020204030204" pitchFamily="49" charset="0"/>
              </a:rPr>
              <a:t>customer_id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latin typeface="Consolas" panose="020B0609020204030204" pitchFamily="49" charset="0"/>
              </a:rPr>
              <a:t>ORDER BY </a:t>
            </a:r>
            <a:r>
              <a:rPr lang="en-US" sz="900" dirty="0" err="1">
                <a:latin typeface="Consolas" panose="020B0609020204030204" pitchFamily="49" charset="0"/>
              </a:rPr>
              <a:t>total_sale</a:t>
            </a:r>
            <a:r>
              <a:rPr lang="en-US" sz="900" dirty="0">
                <a:latin typeface="Consolas" panose="020B0609020204030204" pitchFamily="49" charset="0"/>
              </a:rPr>
              <a:t> DESC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latin typeface="Consolas" panose="020B0609020204030204" pitchFamily="49" charset="0"/>
              </a:rPr>
              <a:t>LIMIT 5;</a:t>
            </a:r>
          </a:p>
        </p:txBody>
      </p:sp>
      <p:sp>
        <p:nvSpPr>
          <p:cNvPr id="8" name="Shape 5"/>
          <p:cNvSpPr/>
          <p:nvPr/>
        </p:nvSpPr>
        <p:spPr>
          <a:xfrm>
            <a:off x="4682133" y="2022872"/>
            <a:ext cx="3970511" cy="1136154"/>
          </a:xfrm>
          <a:prstGeom prst="roundRect">
            <a:avLst>
              <a:gd name="adj" fmla="val 11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9DC578E-4DD6-B840-CDC4-7C49236D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77" y="1896256"/>
            <a:ext cx="3459848" cy="274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62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338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9 · Best-Selling Category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496119" y="798388"/>
            <a:ext cx="8151763" cy="896392"/>
          </a:xfrm>
          <a:prstGeom prst="roundRect">
            <a:avLst>
              <a:gd name="adj" fmla="val 1520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491579" y="798388"/>
            <a:ext cx="8160841" cy="896392"/>
          </a:xfrm>
          <a:prstGeom prst="roundRect">
            <a:avLst>
              <a:gd name="adj" fmla="val 1520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605061" y="889174"/>
            <a:ext cx="7933879" cy="714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category, COUNT(DISTINCT </a:t>
            </a:r>
            <a:r>
              <a:rPr lang="en-US" sz="900" dirty="0" err="1">
                <a:latin typeface="Consolas" panose="020B0609020204030204" pitchFamily="49" charset="0"/>
              </a:rPr>
              <a:t>customer_id</a:t>
            </a:r>
            <a:r>
              <a:rPr lang="en-US" sz="900" dirty="0">
                <a:latin typeface="Consolas" panose="020B0609020204030204" pitchFamily="49" charset="0"/>
              </a:rPr>
              <a:t>) AS </a:t>
            </a:r>
            <a:r>
              <a:rPr lang="en-US" sz="900" dirty="0" err="1">
                <a:latin typeface="Consolas" panose="020B0609020204030204" pitchFamily="49" charset="0"/>
              </a:rPr>
              <a:t>uniq_cust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GROUP BY category;</a:t>
            </a:r>
          </a:p>
        </p:txBody>
      </p:sp>
      <p:sp>
        <p:nvSpPr>
          <p:cNvPr id="7" name="Text 4"/>
          <p:cNvSpPr/>
          <p:nvPr/>
        </p:nvSpPr>
        <p:spPr>
          <a:xfrm>
            <a:off x="4687491" y="1818308"/>
            <a:ext cx="396515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Insight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687491" y="2018333"/>
            <a:ext cx="396515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Electronics</a:t>
            </a: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with 38% of revenue. </a:t>
            </a: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Clothing</a:t>
            </a: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follows at 27%. Focus inventory and promotions on these top two categories for maximum ROI.</a:t>
            </a:r>
            <a:endParaRPr lang="en-US" sz="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E08E54-9DA8-4677-5B3F-37D65BACA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1" y="1889262"/>
            <a:ext cx="3965154" cy="27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12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BD0363-7E23-1856-ED29-FC41055288B1}"/>
              </a:ext>
            </a:extLst>
          </p:cNvPr>
          <p:cNvSpPr txBox="1"/>
          <p:nvPr/>
        </p:nvSpPr>
        <p:spPr>
          <a:xfrm>
            <a:off x="279400" y="346232"/>
            <a:ext cx="62865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10 · create each shift and number of orders</a:t>
            </a:r>
            <a:endParaRPr lang="en-IN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6243F2B-6547-72CA-DC05-2D1D62FAECE2}"/>
              </a:ext>
            </a:extLst>
          </p:cNvPr>
          <p:cNvSpPr/>
          <p:nvPr/>
        </p:nvSpPr>
        <p:spPr>
          <a:xfrm>
            <a:off x="491579" y="798388"/>
            <a:ext cx="8160841" cy="1449512"/>
          </a:xfrm>
          <a:prstGeom prst="roundRect">
            <a:avLst>
              <a:gd name="adj" fmla="val 1520"/>
            </a:avLst>
          </a:prstGeom>
          <a:solidFill>
            <a:srgbClr val="EEEDF2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6B962-8E96-9D1A-2C59-0102F9261312}"/>
              </a:ext>
            </a:extLst>
          </p:cNvPr>
          <p:cNvSpPr txBox="1"/>
          <p:nvPr/>
        </p:nvSpPr>
        <p:spPr>
          <a:xfrm>
            <a:off x="596900" y="840971"/>
            <a:ext cx="4572000" cy="12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SELECT CASE </a:t>
            </a: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WHEN HOUR(</a:t>
            </a:r>
            <a:r>
              <a:rPr lang="en-US" sz="900" dirty="0" err="1">
                <a:latin typeface="Consolas" panose="020B0609020204030204" pitchFamily="49" charset="0"/>
              </a:rPr>
              <a:t>sale_time</a:t>
            </a:r>
            <a:r>
              <a:rPr lang="en-US" sz="900" dirty="0">
                <a:latin typeface="Consolas" panose="020B0609020204030204" pitchFamily="49" charset="0"/>
              </a:rPr>
              <a:t>) &lt; 12 THEN 'Morning’ </a:t>
            </a: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WHEN HOUR(</a:t>
            </a:r>
            <a:r>
              <a:rPr lang="en-US" sz="900" dirty="0" err="1">
                <a:latin typeface="Consolas" panose="020B0609020204030204" pitchFamily="49" charset="0"/>
              </a:rPr>
              <a:t>sale_time</a:t>
            </a:r>
            <a:r>
              <a:rPr lang="en-US" sz="900" dirty="0">
                <a:latin typeface="Consolas" panose="020B0609020204030204" pitchFamily="49" charset="0"/>
              </a:rPr>
              <a:t>) BETWEEN 12 AND 17 THEN 'Afternoon’ </a:t>
            </a: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ELSE 'Evening’</a:t>
            </a: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END AS Shift,</a:t>
            </a: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COUNT(*) AS </a:t>
            </a:r>
            <a:r>
              <a:rPr lang="en-US" sz="900" dirty="0" err="1">
                <a:latin typeface="Consolas" panose="020B0609020204030204" pitchFamily="49" charset="0"/>
              </a:rPr>
              <a:t>num_of_orders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FROM </a:t>
            </a:r>
            <a:r>
              <a:rPr lang="en-US" sz="900" dirty="0" err="1">
                <a:latin typeface="Consolas" panose="020B0609020204030204" pitchFamily="49" charset="0"/>
              </a:rPr>
              <a:t>retail_sales</a:t>
            </a:r>
            <a:endParaRPr lang="en-US" sz="900" dirty="0">
              <a:latin typeface="Consolas" panose="020B0609020204030204" pitchFamily="49" charset="0"/>
            </a:endParaRPr>
          </a:p>
          <a:p>
            <a:pPr>
              <a:lnSpc>
                <a:spcPct val="109000"/>
              </a:lnSpc>
            </a:pPr>
            <a:r>
              <a:rPr lang="en-US" sz="900" dirty="0">
                <a:latin typeface="Consolas" panose="020B0609020204030204" pitchFamily="49" charset="0"/>
              </a:rPr>
              <a:t>GROUP BY Shift;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66BE3F-621C-BADF-1897-E75A378B8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79" y="2465419"/>
            <a:ext cx="8071368" cy="200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6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3313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96119" y="1035472"/>
            <a:ext cx="5179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Nandini Wadile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Aspiring Data Analyst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1381571"/>
            <a:ext cx="2299097" cy="1277466"/>
          </a:xfrm>
          <a:prstGeom prst="roundRect">
            <a:avLst>
              <a:gd name="adj" fmla="val 1561"/>
            </a:avLst>
          </a:prstGeom>
          <a:solidFill>
            <a:srgbClr val="EAE8F3"/>
          </a:solidFill>
          <a:ln/>
        </p:spPr>
      </p:sp>
      <p:sp>
        <p:nvSpPr>
          <p:cNvPr id="6" name="Shape 3"/>
          <p:cNvSpPr/>
          <p:nvPr/>
        </p:nvSpPr>
        <p:spPr>
          <a:xfrm>
            <a:off x="629022" y="1514475"/>
            <a:ext cx="398711" cy="398711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634" y="1624087"/>
            <a:ext cx="179412" cy="179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022" y="2037755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1112" y="2320156"/>
            <a:ext cx="1415678" cy="22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https://github.com/Nandiniwadile</a:t>
            </a:r>
          </a:p>
        </p:txBody>
      </p:sp>
      <p:sp>
        <p:nvSpPr>
          <p:cNvPr id="10" name="Shape 6"/>
          <p:cNvSpPr/>
          <p:nvPr/>
        </p:nvSpPr>
        <p:spPr>
          <a:xfrm>
            <a:off x="2919785" y="1381571"/>
            <a:ext cx="2299097" cy="1277466"/>
          </a:xfrm>
          <a:prstGeom prst="roundRect">
            <a:avLst>
              <a:gd name="adj" fmla="val 1561"/>
            </a:avLst>
          </a:prstGeom>
          <a:solidFill>
            <a:srgbClr val="EAE8F3"/>
          </a:solidFill>
          <a:ln/>
        </p:spPr>
      </p:sp>
      <p:sp>
        <p:nvSpPr>
          <p:cNvPr id="11" name="Shape 7"/>
          <p:cNvSpPr/>
          <p:nvPr/>
        </p:nvSpPr>
        <p:spPr>
          <a:xfrm>
            <a:off x="3052688" y="1514475"/>
            <a:ext cx="398711" cy="398711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2300" y="1624087"/>
            <a:ext cx="179412" cy="1794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52688" y="2037755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052688" y="2320156"/>
            <a:ext cx="20332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IN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www.linkedin.com/in/nandiniwadile</a:t>
            </a:r>
            <a:endParaRPr lang="en-US" sz="9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96119" y="2783607"/>
            <a:ext cx="4722763" cy="1277466"/>
          </a:xfrm>
          <a:prstGeom prst="roundRect">
            <a:avLst>
              <a:gd name="adj" fmla="val 1561"/>
            </a:avLst>
          </a:prstGeom>
          <a:solidFill>
            <a:srgbClr val="EAE8F3"/>
          </a:solidFill>
          <a:ln/>
        </p:spPr>
      </p:sp>
      <p:sp>
        <p:nvSpPr>
          <p:cNvPr id="16" name="Shape 11"/>
          <p:cNvSpPr/>
          <p:nvPr/>
        </p:nvSpPr>
        <p:spPr>
          <a:xfrm>
            <a:off x="629022" y="2916510"/>
            <a:ext cx="398711" cy="398711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634" y="3026122"/>
            <a:ext cx="179412" cy="1794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022" y="3439790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Email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9022" y="3722191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wadilenandini@gmail.com</a:t>
            </a:r>
          </a:p>
        </p:txBody>
      </p:sp>
      <p:sp>
        <p:nvSpPr>
          <p:cNvPr id="20" name="Shape 14"/>
          <p:cNvSpPr/>
          <p:nvPr/>
        </p:nvSpPr>
        <p:spPr>
          <a:xfrm>
            <a:off x="496119" y="4201195"/>
            <a:ext cx="4722763" cy="508992"/>
          </a:xfrm>
          <a:prstGeom prst="roundRect">
            <a:avLst>
              <a:gd name="adj" fmla="val 3917"/>
            </a:avLst>
          </a:prstGeom>
          <a:solidFill>
            <a:srgbClr val="D7D6F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22" y="4389090"/>
            <a:ext cx="166092" cy="1329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8018" y="4358953"/>
            <a:ext cx="461516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Open to opportunities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Data Analytics — let's connect!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134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908</Words>
  <Application>Microsoft Office PowerPoint</Application>
  <PresentationFormat>On-screen Show (16:9)</PresentationFormat>
  <Paragraphs>178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</vt:lpstr>
      <vt:lpstr>Libre Baskerville</vt:lpstr>
      <vt:lpstr>Consolas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</dc:creator>
  <cp:lastModifiedBy>Nandini Wadile</cp:lastModifiedBy>
  <cp:revision>3</cp:revision>
  <dcterms:created xsi:type="dcterms:W3CDTF">2026-07-08T16:09:03Z</dcterms:created>
  <dcterms:modified xsi:type="dcterms:W3CDTF">2026-07-08T17:15:07Z</dcterms:modified>
</cp:coreProperties>
</file>